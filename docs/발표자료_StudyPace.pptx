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831fae2-f8f6-0cc9-ffea-52dc7e9218ff}">
          <p14:sldIdLst>
            <p14:sldId id="256"/>
            <p14:sldId id="257"/>
          </p14:sldIdLst>
        </p14:section>
        <p14:section name="문제 정의" id="{a6dbb9ea-cb92-1536-ac4b-5214ff739b9f}">
          <p14:sldIdLst>
            <p14:sldId id="258"/>
            <p14:sldId id="259"/>
            <p14:sldId id="260"/>
          </p14:sldIdLst>
        </p14:section>
        <p14:section name="해결 방법" id="{afbe936f-af7e-962f-9977-9e79e9bd723e}">
          <p14:sldIdLst>
            <p14:sldId id="261"/>
            <p14:sldId id="262"/>
          </p14:sldIdLst>
        </p14:section>
        <p14:section name="AI 활용" id="{ad6e1d21-a147-8b72-459f-dc6fc082ca7e}">
          <p14:sldIdLst>
            <p14:sldId id="263"/>
            <p14:sldId id="264"/>
            <p14:sldId id="265"/>
            <p14:sldId id="266"/>
            <p14:sldId id="267"/>
          </p14:sldIdLst>
        </p14:section>
        <p14:section name="기술 · 과정" id="{abd91cbd-5ed3-bcdc-7186-275db82ae28a}">
          <p14:sldIdLst>
            <p14:sldId id="268"/>
            <p14:sldId id="269"/>
          </p14:sldIdLst>
        </p14:section>
        <p14:section name="피드백 · 개선" id="{3863d3c2-df41-65fb-8a30-9cff8c830be8}">
          <p14:sldIdLst>
            <p14:sldId id="270"/>
            <p14:sldId id="271"/>
            <p14:sldId id="272"/>
          </p14:sldIdLst>
        </p14:section>
        <p14:section name="마무리" id="{f654f706-20f6-43b7-140a-fc1c58c3b42d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5B6478"/>
                </a:solidFill>
                <a:latin typeface="Malgun Gothic"/>
              </a:rPr>
              <a:t>단위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목표치</c:v>
                </c:pt>
              </c:strCache>
            </c:strRef>
          </c:tx>
          <c:spPr>
            <a:solidFill>
              <a:srgbClr val="B8C2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25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목표 추천 적합도</c:v>
                  </c:pt>
                  <c:pt idx="1">
                    <c:v>일정 실현 가능성</c:v>
                  </c:pt>
                  <c:pt idx="2">
                    <c:v>공모전 Precision@5</c:v>
                  </c:pt>
                  <c:pt idx="3">
                    <c:v>추천 이유 사실성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100</c:v>
                </c:pt>
                <c:pt idx="2">
                  <c:v>90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측정 (10-01, 3차)</c:v>
                </c:pt>
              </c:strCache>
            </c:strRef>
          </c:tx>
          <c:spPr>
            <a:solidFill>
              <a:srgbClr val="2E44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425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목표 추천 적합도</c:v>
                  </c:pt>
                  <c:pt idx="1">
                    <c:v>일정 실현 가능성</c:v>
                  </c:pt>
                  <c:pt idx="2">
                    <c:v>공모전 Precision@5</c:v>
                  </c:pt>
                  <c:pt idx="3">
                    <c:v>추천 이유 사실성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4256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425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A4256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5B6478"/>
                </a:solidFill>
                <a:latin typeface="Malgun Gothic"/>
              </a:rPr>
              <a:t>설문 평균 (5점 만점)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(1~5)</c:v>
                </c:pt>
              </c:strCache>
            </c:strRef>
          </c:tx>
          <c:spPr>
            <a:solidFill>
              <a:srgbClr val="2E447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4256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추천된 목표가 맞았다</c:v>
                  </c:pt>
                  <c:pt idx="1">
                    <c:v>첫 일정이 바로 실행 가능</c:v>
                  </c:pt>
                  <c:pt idx="2">
                    <c:v>진도를 알 수 있었다</c:v>
                  </c:pt>
                  <c:pt idx="3">
                    <c:v>쓰기 쉬웠다</c:v>
                  </c:pt>
                  <c:pt idx="4">
                    <c:v>계속 쓸 생각</c:v>
                  </c:pt>
                  <c:pt idx="5">
                    <c:v>재조정된 일정을 믿고 따름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</c:v>
                </c:pt>
                <c:pt idx="1">
                  <c:v>4.4</c:v>
                </c:pt>
                <c:pt idx="2">
                  <c:v>4.4</c:v>
                </c:pt>
                <c:pt idx="3">
                  <c:v>4.4</c:v>
                </c:pt>
                <c:pt idx="4">
                  <c:v>4.2</c:v>
                </c:pt>
                <c:pt idx="5">
                  <c:v>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4256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256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서면 심사용 자료입니다. 각 장의 근거 문서는 저장소 docs/ 와 README 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노란 배지(P3 · P4)가 기존 도구와 차이가 갈리는 지점이다 — 매일 반복되는 계산이라 자동화 가치가 가장 크다. 기획서 1-2절.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막힌 점 24건 · 계획에서 바뀐 점 12건 · 점검 12회를 README「개발 기록」에 날짜순으로 남겼다 (막힌 점 #3, #2, #20, 10차 점검).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좋았던 점 — "계획을 대신 짜 줌"(2명) · "공모전까지 연결"(2명) → 차별점으로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900" dirty="0">
                <a:solidFill>
                  <a:srgbClr val="7A82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StudyPace · 학습 목표 기반 맞춤 일정 플래너</a:t>
            </a:r>
            <a:endParaRPr lang="ko-KR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eaLnBrk="0" algn="l" indent="0" marL="0">
              <a:buNone/>
            </a:pP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1002</a:t>
            </a:fld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A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eaLnBrk="0" algn="l" indent="0" marL="0">
              <a:buNone/>
            </a:pPr>
            <a:endParaRPr lang="ko-KR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1600" dirty="0">
                <a:solidFill>
                  <a:srgbClr val="9FB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eaLnBrk="0" algn="l" indent="0" marL="0">
              <a:buNone/>
            </a:pPr>
            <a:endParaRPr lang="ko-KR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1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eaLnBrk="0" algn="l" indent="0" marL="0">
              <a:buNone/>
            </a:pP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1004</a:t>
            </a:fld>
            <a:endParaRPr 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null</a:t>
            </a:fld>
            <a:endParaRPr 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표지 그림" descr="C:\Users\user\Desktop\코디세이_작업파일_김재민\임시폴더\Codyssey_FinalProject-main\Codyssey_FinalProject-main\frontend\public\learning-path-blue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0" y="0"/>
            <a:ext cx="9144000" cy="304769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막연한 목표를 오늘 할 일로</a:t>
            </a:r>
            <a:endParaRPr lang="ko-KR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sz="1600" dirty="0">
                <a:solidFill>
                  <a:srgbClr val="9FB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StudyPace — 학습 목표 기반 맞춤 일정 플래너</a:t>
            </a:r>
            <a:endParaRPr lang="ko-KR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Codyssey 최종 프로젝트 · 5인 팀 (전원 비전공자) · 2026-10  |  https://codyssey-final-project.vercel.app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 — 목표만 가져오면 계획을 만들고, 밀리면 다시 짠다</a:t>
            </a:r>
            <a:endParaRPr lang="ko-KR" sz="2000" dirty="0"/>
          </a:p>
        </p:txBody>
      </p:sp>
      <p:sp>
        <p:nvSpPr>
          <p:cNvPr id="3" name="문제 원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문제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355141"/>
            <a:ext cx="261518" cy="26151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88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ko-KR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179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· 공모전 준비는 "언제 무엇을 얼마나"에서 무너진다. 목표를 오늘 할 일로 바꿔 주는 도구가 없다</a:t>
            </a:r>
            <a:endParaRPr lang="ko-KR" sz="1200" dirty="0"/>
          </a:p>
        </p:txBody>
      </p:sp>
      <p:sp>
        <p:nvSpPr>
          <p:cNvPr id="7" name="해결 원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해결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249814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331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6609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가 목표를 학습 단위로 나누고, 규칙 엔진이 내 빈 시간에 배치 · 검증한다. 밀리면 매일 밤 다시 짠다</a:t>
            </a:r>
            <a:endParaRPr lang="ko-KR" sz="1200" dirty="0"/>
          </a:p>
        </p:txBody>
      </p:sp>
      <p:sp>
        <p:nvSpPr>
          <p:cNvPr id="11" name="검증 원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검증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364114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474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ko-KR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80390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정답셋 AI 평가 · 점검 12회 · 백엔드 테스트 546개 · 실사용자 5명 설문과 반영</a:t>
            </a:r>
            <a:endParaRPr lang="ko-KR" sz="1200" dirty="0"/>
          </a:p>
        </p:txBody>
      </p:sp>
      <p:sp>
        <p:nvSpPr>
          <p:cNvPr id="15" name="기능 (Must 38 · Should 25) 카드"/>
          <p:cNvSpPr/>
          <p:nvPr/>
        </p:nvSpPr>
        <p:spPr>
          <a:xfrm>
            <a:off x="4709160" y="118872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89204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3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69개</a:t>
            </a:r>
            <a:endParaRPr lang="ko-KR" sz="3000" dirty="0"/>
          </a:p>
        </p:txBody>
      </p:sp>
      <p:sp>
        <p:nvSpPr>
          <p:cNvPr id="17" name="Text 12"/>
          <p:cNvSpPr txBox="1"/>
          <p:nvPr/>
        </p:nvSpPr>
        <p:spPr>
          <a:xfrm>
            <a:off x="4892040" y="2057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(Must 38 · Should 25)</a:t>
            </a:r>
            <a:endParaRPr lang="ko-KR" sz="1200" dirty="0"/>
          </a:p>
        </p:txBody>
      </p:sp>
      <p:sp>
        <p:nvSpPr>
          <p:cNvPr id="18" name="실사용자 &quot;추천 목표가 맞았다&quot; 카드"/>
          <p:cNvSpPr/>
          <p:nvPr/>
        </p:nvSpPr>
        <p:spPr>
          <a:xfrm>
            <a:off x="6720840" y="118872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90372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3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 / 5</a:t>
            </a:r>
            <a:endParaRPr lang="ko-KR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6903720" y="2057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"추천 목표가 맞았다"</a:t>
            </a:r>
            <a:endParaRPr lang="ko-KR" sz="1200" dirty="0"/>
          </a:p>
        </p:txBody>
      </p:sp>
      <p:sp>
        <p:nvSpPr>
          <p:cNvPr id="21" name="배치 규칙 위반 (마감 초과 · 선후 뒤집힘) 카드"/>
          <p:cNvSpPr/>
          <p:nvPr/>
        </p:nvSpPr>
        <p:spPr>
          <a:xfrm>
            <a:off x="4709160" y="288036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892040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3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ko-KR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규칙 위반 (마감 초과 · 선후 뒤집힘)</a:t>
            </a:r>
            <a:endParaRPr lang="ko-KR" sz="1200" dirty="0"/>
          </a:p>
        </p:txBody>
      </p:sp>
      <p:sp>
        <p:nvSpPr>
          <p:cNvPr id="24" name="AI 가 실패해도 일정은 만들어진다 카드"/>
          <p:cNvSpPr/>
          <p:nvPr/>
        </p:nvSpPr>
        <p:spPr>
          <a:xfrm>
            <a:off x="6720840" y="288036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03720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3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ko-KR" sz="3000" dirty="0"/>
          </a:p>
        </p:txBody>
      </p:sp>
      <p:sp>
        <p:nvSpPr>
          <p:cNvPr id="26" name="Text 21"/>
          <p:cNvSpPr txBox="1"/>
          <p:nvPr/>
        </p:nvSpPr>
        <p:spPr>
          <a:xfrm>
            <a:off x="6903720" y="37490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실패해도 일정은 만들어진다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2</a:t>
            </a:fld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도구는 "목표 → 오늘 할 일" 변환을 대신해 주지 않는다</a:t>
            </a:r>
            <a:endParaRPr lang="ko-KR" sz="2000" dirty="0"/>
          </a:p>
        </p:txBody>
      </p:sp>
      <p:sp>
        <p:nvSpPr>
          <p:cNvPr id="3" name="일정 관리 도구 카드"/>
          <p:cNvSpPr/>
          <p:nvPr/>
        </p:nvSpPr>
        <p:spPr>
          <a:xfrm>
            <a:off x="457200" y="11430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일정 관리 도구 원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일정 관리 도구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 도구</a:t>
            </a:r>
            <a:endParaRPr lang="ko-KR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캘린더 · Notion · Todoist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이미 계획을 갖고 있다고 전제한다. "3개월 뒤 정보처리기사"를 오늘 할 일로 쪼개 주지 않는다</a:t>
            </a:r>
            <a:endParaRPr lang="ko-KR" sz="1200" dirty="0"/>
          </a:p>
        </p:txBody>
      </p:sp>
      <p:sp>
        <p:nvSpPr>
          <p:cNvPr id="9" name="학습 콘텐츠 카드"/>
          <p:cNvSpPr/>
          <p:nvPr/>
        </p:nvSpPr>
        <p:spPr>
          <a:xfrm>
            <a:off x="3246120" y="11430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학습 콘텐츠 원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학습 콘텐츠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435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콘텐츠</a:t>
            </a:r>
            <a:endParaRPr lang="ko-KR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인강 · 기출 사이트</a:t>
            </a:r>
            <a:endParaRPr lang="ko-KR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커리큘럼은 주지만 내 가용 시간에 맞춘 배치는 해 주지 않는다</a:t>
            </a:r>
            <a:endParaRPr lang="ko-KR" sz="1200" dirty="0"/>
          </a:p>
        </p:txBody>
      </p:sp>
      <p:sp>
        <p:nvSpPr>
          <p:cNvPr id="15" name="정보 사이트 카드"/>
          <p:cNvSpPr/>
          <p:nvPr/>
        </p:nvSpPr>
        <p:spPr>
          <a:xfrm>
            <a:off x="6035040" y="114300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정보 사이트 원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정보 사이트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3560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사이트</a:t>
            </a:r>
            <a:endParaRPr lang="ko-KR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공모전 포털 · 자격증 카페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514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정보는 많지만 내 상황에 맞는지 판단은 사용자 몫이다</a:t>
            </a:r>
            <a:endParaRPr lang="ko-KR" sz="1200" dirty="0"/>
          </a:p>
        </p:txBody>
      </p:sp>
      <p:sp>
        <p:nvSpPr>
          <p:cNvPr id="21" name="필요한 계산 띠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37764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필요한 계산 4가지 </a:t>
            </a:r>
            <a:pPr eaLnBrk="0" indent="0" marL="0">
              <a:buNone/>
            </a:pPr>
            <a:r>
              <a:rPr lang="ko-KR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추정 · 가용 시간 대조 · 선후 관계를 지킨 배치 · 밀렸을 때 재배치</a:t>
            </a:r>
            <a:pPr eaLnBrk="0" indent="0" marL="0">
              <a:buNone/>
            </a:pPr>
            <a:endParaRPr lang="ko-KR" sz="1400" dirty="0"/>
          </a:p>
          <a:p>
            <a:pPr eaLnBrk="0" indent="0" marL="0">
              <a:buNone/>
            </a:pPr>
            <a:r>
              <a:rPr lang="ko-KR" sz="1200" dirty="0">
                <a:solidFill>
                  <a:srgbClr val="C9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매일 손으로 하기엔 비용이 너무 커서 계획을 세우다 지치거나, 한 번 밀리면 계획 전체를 버린다</a:t>
            </a:r>
            <a:endParaRPr lang="ko-K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3</a:t>
            </a:fld>
            <a:endParaRPr 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해결할 문제 5가지 — 모두 기능 ID 로 추적한다</a:t>
            </a:r>
            <a:endParaRPr lang="ko-KR" sz="2000" dirty="0"/>
          </a:p>
        </p:txBody>
      </p:sp>
      <p:sp>
        <p:nvSpPr>
          <p:cNvPr id="3" name="P1 배지"/>
          <p:cNvSpPr/>
          <p:nvPr/>
        </p:nvSpPr>
        <p:spPr>
          <a:xfrm>
            <a:off x="457200" y="1115568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ko-K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338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목표가 없거나 막연하다</a:t>
            </a:r>
            <a:endParaRPr lang="ko-K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1338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"취업 준비해야 하는데 뭘 따야 할지를 모르겠어요"</a:t>
            </a:r>
            <a:endParaRPr lang="ko-KR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13385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FR-GOAL-01 · 03 · 05</a:t>
            </a:r>
            <a:endParaRPr lang="ko-KR" sz="1000" dirty="0"/>
          </a:p>
        </p:txBody>
      </p:sp>
      <p:sp>
        <p:nvSpPr>
          <p:cNvPr id="8" name="P2 배지"/>
          <p:cNvSpPr/>
          <p:nvPr/>
        </p:nvSpPr>
        <p:spPr>
          <a:xfrm>
            <a:off x="457200" y="1819656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ko-K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379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안에 되는지 모른다</a:t>
            </a:r>
            <a:endParaRPr lang="ko-KR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379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"2개월이면 될 줄 알았는데 한 달 해 보니 반도 못 왔어요"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8379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FR-GOAL-04 · 09 · CONT-10</a:t>
            </a:r>
            <a:endParaRPr lang="ko-KR" sz="1000" dirty="0"/>
          </a:p>
        </p:txBody>
      </p:sp>
      <p:sp>
        <p:nvSpPr>
          <p:cNvPr id="13" name="P3 배지"/>
          <p:cNvSpPr/>
          <p:nvPr/>
        </p:nvSpPr>
        <p:spPr>
          <a:xfrm>
            <a:off x="457200" y="2523744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23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ko-KR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42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계획을 실행 단위로 못 쪼갠다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5420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뭐부터 해야 되지, 하다가 30분 날려요"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5420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FR-PLAN-02 · 03</a:t>
            </a:r>
            <a:endParaRPr lang="ko-KR" sz="1000" dirty="0"/>
          </a:p>
        </p:txBody>
      </p:sp>
      <p:sp>
        <p:nvSpPr>
          <p:cNvPr id="18" name="P4 배지"/>
          <p:cNvSpPr/>
          <p:nvPr/>
        </p:nvSpPr>
        <p:spPr>
          <a:xfrm>
            <a:off x="457200" y="3227832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ko-KR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밀리면 계획 전체가 무너진다</a:t>
            </a:r>
            <a:endParaRPr lang="ko-KR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246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"이틀 밀렸더니 다시 짜기가 귀찮아서 그냥 접었어요"</a:t>
            </a:r>
            <a:endParaRPr lang="ko-KR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2461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FR-PLAN-06 · 07</a:t>
            </a:r>
            <a:endParaRPr lang="ko-KR" sz="1000" dirty="0"/>
          </a:p>
        </p:txBody>
      </p:sp>
      <p:sp>
        <p:nvSpPr>
          <p:cNvPr id="23" name="P5 배지"/>
          <p:cNvSpPr/>
          <p:nvPr/>
        </p:nvSpPr>
        <p:spPr>
          <a:xfrm>
            <a:off x="457200" y="3931920"/>
            <a:ext cx="5669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ko-KR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950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잘 가고 있는지 모른다</a:t>
            </a:r>
            <a:endParaRPr lang="ko-KR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39502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속도가 맞는 건지 모르겠어요"</a:t>
            </a:r>
            <a:endParaRPr lang="ko-KR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950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FR-PACE-01 · 04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4</a:t>
            </a:fld>
            <a:endParaRPr 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— 가용 시간이 불규칙한 대학생 · 취준생</a:t>
            </a:r>
            <a:endParaRPr lang="ko-KR" sz="2000" dirty="0"/>
          </a:p>
        </p:txBody>
      </p:sp>
      <p:sp>
        <p:nvSpPr>
          <p:cNvPr id="3" name="타깃 정의 카드"/>
          <p:cNvSpPr/>
          <p:nvPr/>
        </p:nvSpPr>
        <p:spPr>
          <a:xfrm>
            <a:off x="457200" y="1143000"/>
            <a:ext cx="3291840" cy="34290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타깃</a:t>
            </a:r>
            <a:endParaRPr lang="ko-KR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18488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· 공모전을 준비하는 대학생 / 취업 준비생 (20~26세). 학기 · 알바로 가용 시간이 불규칙해 고정 플래너가 맞지 않는다</a:t>
            </a:r>
            <a:endParaRPr lang="ko-KR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04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 타깃</a:t>
            </a:r>
            <a:endParaRPr lang="ko-KR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전환 · 재취업을 준비하는 직장인 (27~35세). 주중 시간이 적어 "기한 안에 되나" 판정 가치가 크다</a:t>
            </a:r>
            <a:endParaRPr lang="ko-KR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83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ko-KR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76472"/>
            <a:ext cx="2880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· 중 · 고 학생 — 시간표가 고정, 미성년자 보호자 동의 절차가 5주 범위를 벗어남</a:t>
            </a:r>
            <a:endParaRPr lang="ko-KR" sz="1100" dirty="0"/>
          </a:p>
        </p:txBody>
      </p:sp>
      <p:sp>
        <p:nvSpPr>
          <p:cNvPr id="10" name="김지훈 · 24세 · 컴공 3학년 카드"/>
          <p:cNvSpPr/>
          <p:nvPr/>
        </p:nvSpPr>
        <p:spPr>
          <a:xfrm>
            <a:off x="3977640" y="1143000"/>
            <a:ext cx="4709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11" name="김지훈 · 24세 · 컴공 3학년 원"/>
          <p:cNvSpPr/>
          <p:nvPr/>
        </p:nvSpPr>
        <p:spPr>
          <a:xfrm>
            <a:off x="41605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김지훈 · 24세 · 컴공 3학년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0248" y="143560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5488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김지훈 · 24세 · 컴공 3학년</a:t>
            </a:r>
            <a:endParaRPr lang="ko-KR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1563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있는데 계획이 없다</a:t>
            </a:r>
            <a:endParaRPr lang="ko-KR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18745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 뒤 정보처리기사. 주 15시간이지만 요일마다 다름. 엑셀 계획표는 2주 만에 밀려서 폐기</a:t>
            </a:r>
            <a:endParaRPr lang="ko-KR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160520" y="23500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i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시간표 보고 알아서 짜 줬으면. 밀려도 알아서 당겨 줬으면"</a:t>
            </a:r>
            <a:endParaRPr lang="ko-KR" sz="1100" dirty="0"/>
          </a:p>
        </p:txBody>
      </p:sp>
      <p:sp>
        <p:nvSpPr>
          <p:cNvPr id="17" name="박서연 · 22세 · 시각디자인 2학년 카드"/>
          <p:cNvSpPr/>
          <p:nvPr/>
        </p:nvSpPr>
        <p:spPr>
          <a:xfrm>
            <a:off x="3977640" y="2898648"/>
            <a:ext cx="4709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18" name="박서연 · 22세 · 시각디자인 2학년 원"/>
          <p:cNvSpPr/>
          <p:nvPr/>
        </p:nvSpPr>
        <p:spPr>
          <a:xfrm>
            <a:off x="4160520" y="30815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박서연 · 22세 · 시각디자인 2학년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3191256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754880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박서연 · 22세 · 시각디자인 2학년</a:t>
            </a:r>
            <a:endParaRPr lang="ko-KR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754880" y="3319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자체가 없다</a:t>
            </a:r>
            <a:endParaRPr lang="ko-KR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160520" y="36301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포트폴리오용 공모전을 찾지만 수준 · 일정에 맞는지 모름. 마감 임박한 것만 발견하고 포기</a:t>
            </a:r>
            <a:endParaRPr lang="ko-KR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160520" y="41056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i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"관심 분야랑 낼 수 있는 시간 알려 주면 할 만한 걸 골라 줬으면"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5</a:t>
            </a:fld>
            <a:endParaRPr 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— 4개 파이프라인이 목표에서 오늘 할 일까지 잇는다</a:t>
            </a:r>
            <a:endParaRPr lang="ko-KR" sz="2000" dirty="0"/>
          </a:p>
        </p:txBody>
      </p:sp>
      <p:sp>
        <p:nvSpPr>
          <p:cNvPr id="3" name="0 · 목표 탐색 카드"/>
          <p:cNvSpPr/>
          <p:nvPr/>
        </p:nvSpPr>
        <p:spPr>
          <a:xfrm>
            <a:off x="457200" y="118872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0 · 목표 탐색 원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0 · 목표 탐색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923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· 목표 탐색</a:t>
            </a:r>
            <a:endParaRPr lang="ko-K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04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없는 사용자 · 1회</a:t>
            </a:r>
            <a:endParaRPr lang="ko-KR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1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① + 기간 판정</a:t>
            </a:r>
            <a:endParaRPr lang="ko-KR" sz="1100" dirty="0"/>
          </a:p>
        </p:txBody>
      </p:sp>
      <p:sp>
        <p:nvSpPr>
          <p:cNvPr id="9" name="1 · 일정 생성 카드"/>
          <p:cNvSpPr/>
          <p:nvPr/>
        </p:nvSpPr>
        <p:spPr>
          <a:xfrm>
            <a:off x="2560320" y="118872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1 · 일정 생성 원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1 · 일정 생성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901" y="149230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일정 생성</a:t>
            </a:r>
            <a:endParaRPr lang="ko-KR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304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확정 시 + 매일 03:00 재조정</a:t>
            </a:r>
            <a:endParaRPr lang="ko-KR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81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+ 규칙 엔진</a:t>
            </a:r>
            <a:endParaRPr lang="ko-KR" sz="1100" dirty="0"/>
          </a:p>
        </p:txBody>
      </p:sp>
      <p:sp>
        <p:nvSpPr>
          <p:cNvPr id="15" name="2 · 공모전 추천 카드"/>
          <p:cNvSpPr/>
          <p:nvPr/>
        </p:nvSpPr>
        <p:spPr>
          <a:xfrm>
            <a:off x="4663440" y="118872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2 · 공모전 추천 원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2 · 공모전 추천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021" y="149230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공모전 추천</a:t>
            </a:r>
            <a:endParaRPr lang="ko-KR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304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매일 05:00 · 추천 주 1회</a:t>
            </a:r>
            <a:endParaRPr lang="ko-KR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81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② + 자동화</a:t>
            </a:r>
            <a:endParaRPr lang="ko-KR" sz="1100" dirty="0"/>
          </a:p>
        </p:txBody>
      </p:sp>
      <p:sp>
        <p:nvSpPr>
          <p:cNvPr id="21" name="3 · UI 적응 카드"/>
          <p:cNvSpPr/>
          <p:nvPr/>
        </p:nvSpPr>
        <p:spPr>
          <a:xfrm>
            <a:off x="6766560" y="1188720"/>
            <a:ext cx="1920240" cy="21031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3 · UI 적응 원"/>
          <p:cNvSpPr/>
          <p:nvPr/>
        </p:nvSpPr>
        <p:spPr>
          <a:xfrm>
            <a:off x="694944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3 · UI 적응 아이콘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41" y="149230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UI 적응</a:t>
            </a:r>
            <a:endParaRPr lang="ko-KR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304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기록이 생길 때마다</a:t>
            </a:r>
            <a:endParaRPr lang="ko-KR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8163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+ Memory</a:t>
            </a:r>
            <a:endParaRPr lang="ko-KR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여정 — 가치를 먼저 보여 주고, 저장할 때 가입한다</a:t>
            </a:r>
            <a:endParaRPr lang="ko-KR" sz="1300" dirty="0"/>
          </a:p>
        </p:txBody>
      </p:sp>
      <p:sp>
        <p:nvSpPr>
          <p:cNvPr id="28" name="공모전 검색 단계"/>
          <p:cNvSpPr/>
          <p:nvPr/>
        </p:nvSpPr>
        <p:spPr>
          <a:xfrm>
            <a:off x="457200" y="3886200"/>
            <a:ext cx="1261872" cy="502920"/>
          </a:xfrm>
          <a:prstGeom prst="roundRect">
            <a:avLst>
              <a:gd name="adj" fmla="val 14545"/>
            </a:avLst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7200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공모전 검색</a:t>
            </a:r>
            <a:endParaRPr lang="ko-KR" sz="1100" dirty="0"/>
          </a:p>
        </p:txBody>
      </p:sp>
      <p:sp>
        <p:nvSpPr>
          <p:cNvPr id="30" name="목표 추천 단계"/>
          <p:cNvSpPr/>
          <p:nvPr/>
        </p:nvSpPr>
        <p:spPr>
          <a:xfrm>
            <a:off x="1847088" y="3886200"/>
            <a:ext cx="1261872" cy="502920"/>
          </a:xfrm>
          <a:prstGeom prst="roundRect">
            <a:avLst>
              <a:gd name="adj" fmla="val 14545"/>
            </a:avLst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847088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추천</a:t>
            </a:r>
            <a:endParaRPr lang="ko-KR" sz="1100" dirty="0"/>
          </a:p>
        </p:txBody>
      </p:sp>
      <p:sp>
        <p:nvSpPr>
          <p:cNvPr id="32" name="계획 미리보기 단계"/>
          <p:cNvSpPr/>
          <p:nvPr/>
        </p:nvSpPr>
        <p:spPr>
          <a:xfrm>
            <a:off x="3236976" y="3886200"/>
            <a:ext cx="1261872" cy="502920"/>
          </a:xfrm>
          <a:prstGeom prst="roundRect">
            <a:avLst>
              <a:gd name="adj" fmla="val 14545"/>
            </a:avLst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3236976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미리보기</a:t>
            </a:r>
            <a:endParaRPr lang="ko-KR" sz="1100" dirty="0"/>
          </a:p>
        </p:txBody>
      </p:sp>
      <p:sp>
        <p:nvSpPr>
          <p:cNvPr id="34" name="가입 단계"/>
          <p:cNvSpPr/>
          <p:nvPr/>
        </p:nvSpPr>
        <p:spPr>
          <a:xfrm>
            <a:off x="4626864" y="3886200"/>
            <a:ext cx="1261872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626864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</a:t>
            </a:r>
            <a:endParaRPr lang="ko-KR" sz="1100" dirty="0"/>
          </a:p>
        </p:txBody>
      </p:sp>
      <p:sp>
        <p:nvSpPr>
          <p:cNvPr id="36" name="목표 확정 단계"/>
          <p:cNvSpPr/>
          <p:nvPr/>
        </p:nvSpPr>
        <p:spPr>
          <a:xfrm>
            <a:off x="6016752" y="3886200"/>
            <a:ext cx="1261872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016752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확정</a:t>
            </a:r>
            <a:endParaRPr lang="ko-KR" sz="1100" dirty="0"/>
          </a:p>
        </p:txBody>
      </p:sp>
      <p:sp>
        <p:nvSpPr>
          <p:cNvPr id="38" name="매일 학습 · 재조정 단계"/>
          <p:cNvSpPr/>
          <p:nvPr/>
        </p:nvSpPr>
        <p:spPr>
          <a:xfrm>
            <a:off x="7406640" y="3886200"/>
            <a:ext cx="1261872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406640" y="3886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학습 · 재조정</a:t>
            </a:r>
            <a:endParaRPr lang="ko-KR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45720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</a:t>
            </a:r>
            <a:endParaRPr lang="ko-KR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016752" y="4434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6</a:t>
            </a:fld>
            <a:endParaRPr 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화면 — 배포 주소에서 바로 써 볼 수 있다</a:t>
            </a:r>
            <a:endParaRPr lang="ko-KR" sz="2000" dirty="0"/>
          </a:p>
        </p:txBody>
      </p:sp>
      <p:pic>
        <p:nvPicPr>
          <p:cNvPr id="3" name="AI 목표 추천 화면" descr="C:\Users\user\Desktop\코디세이_작업파일_김재민\임시폴더\Codyssey_FinalProject-main\Codyssey_FinalProject-main\docs\screens\04-onboarding-recomm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1828800" cy="1997964"/>
          </a:xfrm>
          <a:prstGeom prst="rect">
            <a:avLst/>
          </a:prstGeom>
        </p:spPr>
      </p:pic>
      <p:sp>
        <p:nvSpPr>
          <p:cNvPr id="4" name="AI 목표 추천 테두리"/>
          <p:cNvSpPr/>
          <p:nvPr/>
        </p:nvSpPr>
        <p:spPr>
          <a:xfrm>
            <a:off x="502920" y="1097280"/>
            <a:ext cx="1828800" cy="1997964"/>
          </a:xfrm>
          <a:prstGeom prst="rect">
            <a:avLst/>
          </a:prstGeom>
          <a:ln w="9525">
            <a:solidFill>
              <a:srgbClr val="D5DB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목표 추천</a:t>
            </a:r>
            <a:endParaRPr lang="ko-KR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4930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· 시간 → 기한 안에 끝낼 수 있는 목표만, 이유와 함께</a:t>
            </a:r>
            <a:endParaRPr lang="ko-KR" sz="1100" dirty="0"/>
          </a:p>
        </p:txBody>
      </p:sp>
      <p:pic>
        <p:nvPicPr>
          <p:cNvPr id="7" name="일정 화면" descr="C:\Users\user\Desktop\코디세이_작업파일_김재민\임시폴더\Codyssey_FinalProject-main\Codyssey_FinalProject-main\docs\screens\05-schedu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097280"/>
            <a:ext cx="1828800" cy="1997964"/>
          </a:xfrm>
          <a:prstGeom prst="rect">
            <a:avLst/>
          </a:prstGeom>
        </p:spPr>
      </p:pic>
      <p:sp>
        <p:nvSpPr>
          <p:cNvPr id="8" name="일정 테두리"/>
          <p:cNvSpPr/>
          <p:nvPr/>
        </p:nvSpPr>
        <p:spPr>
          <a:xfrm>
            <a:off x="2606040" y="1097280"/>
            <a:ext cx="1828800" cy="1997964"/>
          </a:xfrm>
          <a:prstGeom prst="rect">
            <a:avLst/>
          </a:prstGeom>
          <a:ln w="9525">
            <a:solidFill>
              <a:srgbClr val="D5DBE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6060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ko-KR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606040" y="34930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나눈 단원을 빈 시간에 배치한 주간 달력</a:t>
            </a:r>
            <a:endParaRPr lang="ko-KR" sz="1100" dirty="0"/>
          </a:p>
        </p:txBody>
      </p:sp>
      <p:pic>
        <p:nvPicPr>
          <p:cNvPr id="11" name="학습 화면" descr="C:\Users\user\Desktop\코디세이_작업파일_김재민\임시폴더\Codyssey_FinalProject-main\Codyssey_FinalProject-main\docs\screens\06-stud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97280"/>
            <a:ext cx="1828800" cy="1997964"/>
          </a:xfrm>
          <a:prstGeom prst="rect">
            <a:avLst/>
          </a:prstGeom>
        </p:spPr>
      </p:pic>
      <p:sp>
        <p:nvSpPr>
          <p:cNvPr id="12" name="학습 테두리"/>
          <p:cNvSpPr/>
          <p:nvPr/>
        </p:nvSpPr>
        <p:spPr>
          <a:xfrm>
            <a:off x="4709160" y="1097280"/>
            <a:ext cx="1828800" cy="1997964"/>
          </a:xfrm>
          <a:prstGeom prst="rect">
            <a:avLst/>
          </a:prstGeom>
          <a:ln w="9525">
            <a:solidFill>
              <a:srgbClr val="D5DBE7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7091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endParaRPr lang="ko-KR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34930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타이머 · 학습 메모 · 이번 주 집계</a:t>
            </a:r>
            <a:endParaRPr lang="ko-KR" sz="1100" dirty="0"/>
          </a:p>
        </p:txBody>
      </p:sp>
      <p:pic>
        <p:nvPicPr>
          <p:cNvPr id="15" name="대시보드 화면" descr="C:\Users\user\Desktop\코디세이_작업파일_김재민\임시폴더\Codyssey_FinalProject-main\Codyssey_FinalProject-main\docs\screens\07-dashboar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097280"/>
            <a:ext cx="1828800" cy="1997964"/>
          </a:xfrm>
          <a:prstGeom prst="rect">
            <a:avLst/>
          </a:prstGeom>
        </p:spPr>
      </p:pic>
      <p:sp>
        <p:nvSpPr>
          <p:cNvPr id="16" name="대시보드 테두리"/>
          <p:cNvSpPr/>
          <p:nvPr/>
        </p:nvSpPr>
        <p:spPr>
          <a:xfrm>
            <a:off x="6812280" y="1097280"/>
            <a:ext cx="1828800" cy="1997964"/>
          </a:xfrm>
          <a:prstGeom prst="rect">
            <a:avLst/>
          </a:prstGeom>
          <a:ln w="9525">
            <a:solidFill>
              <a:srgbClr val="D5DBE7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81228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ko-KR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812280" y="349300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할 일 · D-day · 진도</a:t>
            </a:r>
            <a:endParaRPr lang="ko-KR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평가용 테스트 계정은 제출할 때 따로 전달 · 화면 16장과 설명은 README「화면 구성」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7</a:t>
            </a:fld>
            <a:endParaRPr 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LLM 을 쓰는 곳과 쓰지 않는 곳을 먼저 갈랐다</a:t>
            </a:r>
            <a:endParaRPr lang="ko-KR" sz="2000" dirty="0"/>
          </a:p>
        </p:txBody>
      </p:sp>
      <p:sp>
        <p:nvSpPr>
          <p:cNvPr id="3" name="LLM 을 쓰지 않는다 · 결정론 카드"/>
          <p:cNvSpPr/>
          <p:nvPr/>
        </p:nvSpPr>
        <p:spPr>
          <a:xfrm>
            <a:off x="457200" y="114300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LM 을 쓰지 않는다 · 결정론 원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LLM 을 쓰지 않는다 · 결정론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을 쓰지 않는다 · 결정론</a:t>
            </a:r>
            <a:endParaRPr lang="ko-KR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385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적합성 판정 (기한 안에 되는가)</a:t>
            </a:r>
            <a:endParaRPr lang="ko-KR" sz="1200" dirty="0"/>
          </a:p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배치 엔진 (빈 시간 · 휴식 · 하루 3블록)</a:t>
            </a:r>
            <a:endParaRPr lang="ko-KR" sz="1200" dirty="0"/>
          </a:p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검증 (마감 초과 · 선후 뒤집힘 0건)</a:t>
            </a:r>
            <a:endParaRPr lang="ko-KR" sz="1200" dirty="0"/>
          </a:p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진도 기준선 · 재조정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입력이면 항상 같은 결과 → 검증할 수 있다</a:t>
            </a:r>
            <a:endParaRPr lang="ko-KR" sz="1100" dirty="0"/>
          </a:p>
        </p:txBody>
      </p:sp>
      <p:sp>
        <p:nvSpPr>
          <p:cNvPr id="9" name="LLM 을 쓴다 · 생성형 AI 카드"/>
          <p:cNvSpPr/>
          <p:nvPr/>
        </p:nvSpPr>
        <p:spPr>
          <a:xfrm>
            <a:off x="4663440" y="1143000"/>
            <a:ext cx="40233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LM 을 쓴다 · 생성형 AI 원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LLM 을 쓴다 · 생성형 AI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35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5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을 쓴다 · 생성형 AI</a:t>
            </a:r>
            <a:endParaRPr lang="ko-KR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19385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분해 — 목표를 학습 단위 · 시간 · 선후로</a:t>
            </a:r>
            <a:endParaRPr lang="ko-KR" sz="1200" dirty="0"/>
          </a:p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공고 관련성 판단 (RAG)</a:t>
            </a:r>
            <a:endParaRPr lang="ko-KR" sz="1200" dirty="0"/>
          </a:p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이유 문장 — 검색된 근거로만</a:t>
            </a:r>
            <a:endParaRPr lang="ko-KR" sz="1200" dirty="0"/>
          </a:p>
          <a:p>
            <a:pPr eaLnBrk="0" marL="152400" indent="-152400">
              <a:spcAft>
                <a:spcPts val="4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공부 방법 — 블록마다 할 일 3단계</a:t>
            </a:r>
            <a:endParaRPr lang="ko-KR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i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규칙으로 다 적을 수 없는 영역</a:t>
            </a:r>
            <a:endParaRPr lang="ko-KR" sz="1100" dirty="0"/>
          </a:p>
        </p:txBody>
      </p:sp>
      <p:sp>
        <p:nvSpPr>
          <p:cNvPr id="15" name="결론 띠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LLM 이 실패해도 일정은 항상 만들어진다. </a:t>
            </a:r>
            <a:pPr eaLnBrk="0" indent="0" marL="0">
              <a:buNone/>
            </a:pPr>
            <a:r>
              <a:rPr 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분해가 실패하면 표준 커리큘럼 템플릿('추정' 표시)으로 대체하고, 배치 · 검증은 그대로 돈다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8</a:t>
            </a:fld>
            <a:endParaRPr 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— 학습 분해 에이전트가 도구를 골라 계획의 재료를 만든다</a:t>
            </a:r>
            <a:endParaRPr lang="ko-KR" sz="2000" dirty="0"/>
          </a:p>
        </p:txBody>
      </p:sp>
      <p:sp>
        <p:nvSpPr>
          <p:cNvPr id="3" name="목표 · 빈 시간 단계"/>
          <p:cNvSpPr/>
          <p:nvPr/>
        </p:nvSpPr>
        <p:spPr>
          <a:xfrm>
            <a:off x="457200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빈 시간</a:t>
            </a:r>
            <a:endParaRPr lang="ko-KR" sz="1200" dirty="0"/>
          </a:p>
        </p:txBody>
      </p:sp>
      <p:sp>
        <p:nvSpPr>
          <p:cNvPr id="5" name="학습 분해 Agent 단계"/>
          <p:cNvSpPr/>
          <p:nvPr/>
        </p:nvSpPr>
        <p:spPr>
          <a:xfrm>
            <a:off x="2139696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9696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분해 Agent</a:t>
            </a:r>
            <a:endParaRPr lang="ko-KR" sz="1200" dirty="0"/>
          </a:p>
        </p:txBody>
      </p:sp>
      <p:sp>
        <p:nvSpPr>
          <p:cNvPr id="7" name="학습 단위 JSON 단계"/>
          <p:cNvSpPr/>
          <p:nvPr/>
        </p:nvSpPr>
        <p:spPr>
          <a:xfrm>
            <a:off x="3822192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22192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단위 JSON</a:t>
            </a:r>
            <a:endParaRPr lang="ko-KR" sz="1200" dirty="0"/>
          </a:p>
        </p:txBody>
      </p:sp>
      <p:sp>
        <p:nvSpPr>
          <p:cNvPr id="9" name="배치 엔진 단계"/>
          <p:cNvSpPr/>
          <p:nvPr/>
        </p:nvSpPr>
        <p:spPr>
          <a:xfrm>
            <a:off x="5504688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04688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엔진</a:t>
            </a:r>
            <a:endParaRPr lang="ko-KR" sz="1200" dirty="0"/>
          </a:p>
        </p:txBody>
      </p:sp>
      <p:sp>
        <p:nvSpPr>
          <p:cNvPr id="11" name="규칙 검증 단계"/>
          <p:cNvSpPr/>
          <p:nvPr/>
        </p:nvSpPr>
        <p:spPr>
          <a:xfrm>
            <a:off x="7187184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87184" y="1143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검증</a:t>
            </a:r>
            <a:endParaRPr lang="ko-K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</a:t>
            </a:r>
            <a:endParaRPr lang="ko-KR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1737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(LLM 없음)</a:t>
            </a:r>
            <a:endParaRPr lang="ko-KR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6종</a:t>
            </a:r>
            <a:endParaRPr lang="ko-KR" sz="1400" dirty="0"/>
          </a:p>
        </p:txBody>
      </p:sp>
      <p:sp>
        <p:nvSpPr>
          <p:cNvPr id="16" name="search_curriculum 카드"/>
          <p:cNvSpPr/>
          <p:nvPr/>
        </p:nvSpPr>
        <p:spPr>
          <a:xfrm>
            <a:off x="457200" y="248716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60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search_curriculum</a:t>
            </a:r>
            <a:endParaRPr lang="ko-KR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커리큘럼 · 출제 범위 (DB)</a:t>
            </a:r>
            <a:endParaRPr lang="ko-KR" sz="1000" dirty="0"/>
          </a:p>
        </p:txBody>
      </p:sp>
      <p:sp>
        <p:nvSpPr>
          <p:cNvPr id="19" name="estimate_effort 카드"/>
          <p:cNvSpPr/>
          <p:nvPr/>
        </p:nvSpPr>
        <p:spPr>
          <a:xfrm>
            <a:off x="2514600" y="2487168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24328" y="2560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estimate_effort</a:t>
            </a:r>
            <a:endParaRPr lang="ko-KR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624328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단원별 예상 시간</a:t>
            </a:r>
            <a:endParaRPr lang="ko-KR" sz="1000" dirty="0"/>
          </a:p>
        </p:txBody>
      </p:sp>
      <p:sp>
        <p:nvSpPr>
          <p:cNvPr id="22" name="get_available_slots 카드"/>
          <p:cNvSpPr/>
          <p:nvPr/>
        </p:nvSpPr>
        <p:spPr>
          <a:xfrm>
            <a:off x="457200" y="3182112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2552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get_available_slots</a:t>
            </a:r>
            <a:endParaRPr lang="ko-KR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493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요청의 빈 시간</a:t>
            </a:r>
            <a:endParaRPr lang="ko-KR" sz="1000" dirty="0"/>
          </a:p>
        </p:txBody>
      </p:sp>
      <p:sp>
        <p:nvSpPr>
          <p:cNvPr id="25" name="get_goal_catalog 카드"/>
          <p:cNvSpPr/>
          <p:nvPr/>
        </p:nvSpPr>
        <p:spPr>
          <a:xfrm>
            <a:off x="2514600" y="3182112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24328" y="32552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get_goal_catalog</a:t>
            </a:r>
            <a:endParaRPr lang="ko-KR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624328" y="3493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카탈로그 · 표준 학습시간</a:t>
            </a:r>
            <a:endParaRPr lang="ko-KR" sz="1000" dirty="0"/>
          </a:p>
        </p:txBody>
      </p:sp>
      <p:sp>
        <p:nvSpPr>
          <p:cNvPr id="28" name="search_contests 카드"/>
          <p:cNvSpPr/>
          <p:nvPr/>
        </p:nvSpPr>
        <p:spPr>
          <a:xfrm>
            <a:off x="457200" y="3877056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950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search_contests</a:t>
            </a:r>
            <a:endParaRPr lang="ko-KR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공모전</a:t>
            </a:r>
            <a:endParaRPr lang="ko-KR" sz="1000" dirty="0"/>
          </a:p>
        </p:txBody>
      </p:sp>
      <p:sp>
        <p:nvSpPr>
          <p:cNvPr id="31" name="save_plan 카드"/>
          <p:cNvSpPr/>
          <p:nvPr/>
        </p:nvSpPr>
        <p:spPr>
          <a:xfrm>
            <a:off x="2514600" y="3877056"/>
            <a:ext cx="192024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24328" y="3950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save_plan</a:t>
            </a:r>
            <a:endParaRPr lang="ko-KR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624328" y="4187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— 사용자 확인 후에만</a:t>
            </a:r>
            <a:endParaRPr lang="ko-KR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정책과 근거</a:t>
            </a:r>
            <a:endParaRPr lang="ko-KR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2468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최대 5회</a:t>
            </a:r>
            <a:endParaRPr lang="ko-KR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3회면 검색 → 추정 → 배치가 끊기고, 8회 이상은 비용만 는다</a:t>
            </a:r>
            <a:endParaRPr lang="ko-KR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3017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전체 60초</a:t>
            </a:r>
            <a:endParaRPr lang="ko-KR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754880" y="3255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호출당 20초 제한은 늘 시간 초과 → 전체 예산으로 28~35초</a:t>
            </a:r>
            <a:endParaRPr lang="ko-KR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754880" y="3566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최대 25개 · 30~600분</a:t>
            </a:r>
            <a:endParaRPr lang="ko-KR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754880" y="38039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배치할 때 120분 이하 블록으로 나눠 놓는다</a:t>
            </a:r>
            <a:endParaRPr lang="ko-KR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754880" y="41148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실패하면 템플릿 + '추정'</a:t>
            </a:r>
            <a:endParaRPr lang="ko-KR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754880" y="43525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분해를 근거 있는 것처럼 보이지 않게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9</a:t>
            </a:fld>
            <a:endParaRPr 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— 검색된 문서만 근거로 추천하고, 없으면 답하지 않는다</a:t>
            </a:r>
            <a:endParaRPr lang="ko-KR" sz="2000" dirty="0"/>
          </a:p>
        </p:txBody>
      </p:sp>
      <p:sp>
        <p:nvSpPr>
          <p:cNvPr id="3" name="RAG 단계 1"/>
          <p:cNvSpPr/>
          <p:nvPr/>
        </p:nvSpPr>
        <p:spPr>
          <a:xfrm>
            <a:off x="457200" y="114300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30352" y="1143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필터</a:t>
            </a:r>
            <a:endParaRPr lang="ko-KR" sz="1100" dirty="0"/>
          </a:p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≥ 오늘 · 상태</a:t>
            </a:r>
            <a:endParaRPr lang="ko-KR" sz="1100" dirty="0"/>
          </a:p>
        </p:txBody>
      </p:sp>
      <p:sp>
        <p:nvSpPr>
          <p:cNvPr id="5" name="RAG 단계 2"/>
          <p:cNvSpPr/>
          <p:nvPr/>
        </p:nvSpPr>
        <p:spPr>
          <a:xfrm>
            <a:off x="2139696" y="114300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12848" y="1143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Haiku</a:t>
            </a:r>
            <a:endParaRPr lang="ko-KR" sz="1100" dirty="0"/>
          </a:p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 0~1</a:t>
            </a:r>
            <a:endParaRPr lang="ko-KR" sz="1100" dirty="0"/>
          </a:p>
        </p:txBody>
      </p:sp>
      <p:sp>
        <p:nvSpPr>
          <p:cNvPr id="7" name="RAG 단계 3"/>
          <p:cNvSpPr/>
          <p:nvPr/>
        </p:nvSpPr>
        <p:spPr>
          <a:xfrm>
            <a:off x="3822192" y="114300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143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</a:t>
            </a:r>
            <a:endParaRPr lang="ko-KR" sz="1100" dirty="0"/>
          </a:p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0.60 · 공고 0.62</a:t>
            </a:r>
            <a:endParaRPr lang="ko-KR" sz="1100" dirty="0"/>
          </a:p>
        </p:txBody>
      </p:sp>
      <p:sp>
        <p:nvSpPr>
          <p:cNvPr id="9" name="RAG 단계 4"/>
          <p:cNvSpPr/>
          <p:nvPr/>
        </p:nvSpPr>
        <p:spPr>
          <a:xfrm>
            <a:off x="5504688" y="114300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1143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재랭킹</a:t>
            </a:r>
            <a:endParaRPr lang="ko-KR" sz="1100" dirty="0"/>
          </a:p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.5 · 마감 .3 · 자격 .2</a:t>
            </a:r>
            <a:endParaRPr lang="ko-KR" sz="1100" dirty="0"/>
          </a:p>
        </p:txBody>
      </p:sp>
      <p:sp>
        <p:nvSpPr>
          <p:cNvPr id="11" name="RAG 단계 5"/>
          <p:cNvSpPr/>
          <p:nvPr/>
        </p:nvSpPr>
        <p:spPr>
          <a:xfrm>
            <a:off x="7187184" y="1143000"/>
            <a:ext cx="15179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0336" y="11430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</a:t>
            </a:r>
            <a:endParaRPr lang="ko-KR" sz="1100" dirty="0"/>
          </a:p>
          <a:p>
            <a:pPr eaLnBrk="0" algn="ctr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이유 문장</a:t>
            </a:r>
            <a:endParaRPr lang="ko-KR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목표 카탈로그</a:t>
            </a:r>
            <a:endParaRPr lang="ko-KR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328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· 공모전 요강 (팀 검수). 관심사 + 가용 시간 → 기한 안에 끝낼 수 있는 목표 상위 5개, "빠듯해요" 표시</a:t>
            </a:r>
            <a:endParaRPr lang="ko-K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공모전 공고</a:t>
            </a:r>
            <a:endParaRPr lang="ko-KR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401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위비티에서 매일 수집한 제목 · 링크(허락 범위). 관심 키워드 공고 12건 + 최신 공고로 후보 20건</a:t>
            </a:r>
            <a:endParaRPr lang="ko-KR" sz="1100" dirty="0"/>
          </a:p>
        </p:txBody>
      </p:sp>
      <p:sp>
        <p:nvSpPr>
          <p:cNvPr id="17" name="임베딩 없는 이유 카드"/>
          <p:cNvSpPr/>
          <p:nvPr/>
        </p:nvSpPr>
        <p:spPr>
          <a:xfrm>
            <a:off x="4846320" y="2240280"/>
            <a:ext cx="3840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임베딩 없이 Claude 로 판단하나 (09-29 결정)</a:t>
            </a:r>
            <a:endParaRPr lang="ko-KR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6974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제공 게이트웨이에 임베딩 API 가 없다</a:t>
            </a:r>
            <a:endParaRPr lang="ko-KR" sz="1100" dirty="0"/>
          </a:p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목표 50 · 공고 20건이라 한 번에 넣을 수 있다</a:t>
            </a:r>
            <a:endParaRPr lang="ko-KR" sz="1100" dirty="0"/>
          </a:p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글자가 안 겹치는 관심사도 찾는다 — 정답셋 적합도 태그 40% → Claude 100%</a:t>
            </a:r>
            <a:endParaRPr lang="ko-KR" sz="1100" dirty="0"/>
          </a:p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수천 건이 되면 임베딩을 다시 검토</a:t>
            </a:r>
            <a:endParaRPr lang="ko-KR" sz="1100" dirty="0"/>
          </a:p>
        </p:txBody>
      </p:sp>
      <p:sp>
        <p:nvSpPr>
          <p:cNvPr id="20" name="안전장치 띠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입력에 없는 ID · 범위 밖 점수가 하나라도 있으면 응답 전체를 버린다 · 실패하면 태그 · 키워드 검색으로 대체하고 화면에 '키워드 추천'으로 구분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10</a:t>
            </a:fld>
            <a:endParaRPr 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· 메모리 · 실패 정책 — 사람이 없어도 돈다</a:t>
            </a:r>
            <a:endParaRPr lang="ko-KR" sz="2000" dirty="0"/>
          </a:p>
        </p:txBody>
      </p:sp>
      <p:sp>
        <p:nvSpPr>
          <p:cNvPr id="3" name="자동화 워크플로우 카드"/>
          <p:cNvSpPr/>
          <p:nvPr/>
        </p:nvSpPr>
        <p:spPr>
          <a:xfrm>
            <a:off x="457200" y="11430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자동화 워크플로우 원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자동화 워크플로우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워크플로우</a:t>
            </a:r>
            <a:endParaRPr lang="ko-K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2128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— 공고 수집 05:00 · 추천 월 09:00 · 야간 재조정 03:00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워커 — 시작 전 · 미완료 · 하루 마감 · 주간 요약 (1~30분 주기)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재조정은 지난 미완료 블록을 남은 기간에 다시 놓고 변경 내역 · 되돌리기를 남긴다</a:t>
            </a:r>
            <a:endParaRPr lang="ko-KR" sz="1200" dirty="0"/>
          </a:p>
        </p:txBody>
      </p:sp>
      <p:sp>
        <p:nvSpPr>
          <p:cNvPr id="8" name="Long-term Memory 카드"/>
          <p:cNvSpPr/>
          <p:nvPr/>
        </p:nvSpPr>
        <p:spPr>
          <a:xfrm>
            <a:off x="3246120" y="11430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ong-term Memory 원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ong-term Memory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435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Long-term Memory</a:t>
            </a:r>
            <a:endParaRPr lang="ko-KR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40280"/>
            <a:ext cx="22128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키워드 · 학습 패턴을 저장해 다음 추천에 쓴다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"안 맞음" 평가는 다음 추천에서 뺀다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마이페이지에서 항목별 · 전체로 바로 지울 수 있다</a:t>
            </a:r>
            <a:endParaRPr lang="ko-KR" sz="1200" dirty="0"/>
          </a:p>
        </p:txBody>
      </p:sp>
      <p:sp>
        <p:nvSpPr>
          <p:cNvPr id="13" name="AI 실패 · 비용 정책 카드"/>
          <p:cNvSpPr/>
          <p:nvPr/>
        </p:nvSpPr>
        <p:spPr>
          <a:xfrm>
            <a:off x="6035040" y="11430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I 실패 · 비용 정책 원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I 실패 · 비용 정책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3560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실패 · 비용 정책</a:t>
            </a:r>
            <a:endParaRPr lang="ko-KR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240280"/>
            <a:ext cx="22128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· 형식 오류 → 템플릿으로 계획을 계속 만든다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없음 → 사전 지식으로 답하지 않고 추천 중단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AI 비용 한도 80% 비회원 AI 차단 · 100% 새 AI 호출만 차단 (비AI 기능은 정상)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11</a:t>
            </a:fld>
            <a:endParaRPr 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 근거 — 정답셋으로 재고, 목표치를 모두 넘었다</a:t>
            </a:r>
            <a:endParaRPr lang="ko-KR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적합도 강조 카드"/>
          <p:cNvSpPr/>
          <p:nvPr/>
        </p:nvSpPr>
        <p:spPr>
          <a:xfrm>
            <a:off x="5715000" y="1143000"/>
            <a:ext cx="297180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→ 100%</a:t>
            </a:r>
            <a:endParaRPr lang="ko-KR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8105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D7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추천 적합도 (정답셋 20개). 태그 겹침 → Claude 관련성 판단으로 바꾼 효과. 예: "회사 서류 작업을 빨리" → 컴활</a:t>
            </a:r>
            <a:endParaRPr lang="ko-KR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715000" y="27432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쟀나</a:t>
            </a:r>
            <a:endParaRPr lang="ko-KR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30175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 — 배치 결과의 규칙 위반 0건</a:t>
            </a:r>
            <a:endParaRPr lang="ko-KR" sz="1000" dirty="0"/>
          </a:p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Precision@5 — 추천 공고가 접수 중 · 마감 전인가 (관련성은 팀원 2명 교차 채점)</a:t>
            </a:r>
            <a:endParaRPr lang="ko-KR" sz="1000" dirty="0"/>
          </a:p>
          <a:p>
            <a:pPr eaLnBrk="0" marL="152400" indent="-152400">
              <a:spcAft>
                <a:spcPts val="300"/>
              </a:spcAft>
              <a:buSzPct val="100000"/>
              <a:buChar char="•"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사실성 — 이유 문장의 근거가 실제와 맞는 비율</a:t>
            </a:r>
            <a:endParaRPr lang="ko-KR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43434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backend/evals/RESULTS.md · 기획서 4-9</a:t>
            </a:r>
            <a:endParaRPr lang="ko-K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12</a:t>
            </a:fld>
            <a:endParaRPr 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— AI 가 실패하면 결정론 레이어가 받는다</a:t>
            </a:r>
            <a:endParaRPr lang="ko-KR" sz="2000" dirty="0"/>
          </a:p>
        </p:txBody>
      </p:sp>
      <p:sp>
        <p:nvSpPr>
          <p:cNvPr id="3" name="사용자"/>
          <p:cNvSpPr/>
          <p:nvPr/>
        </p:nvSpPr>
        <p:spPr>
          <a:xfrm>
            <a:off x="457200" y="21488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모바일 브라우저</a:t>
            </a:r>
            <a:endParaRPr lang="ko-KR" sz="1200" dirty="0"/>
          </a:p>
        </p:txBody>
      </p:sp>
      <p:sp>
        <p:nvSpPr>
          <p:cNvPr id="5" name="프론트엔드"/>
          <p:cNvSpPr/>
          <p:nvPr/>
        </p:nvSpPr>
        <p:spPr>
          <a:xfrm>
            <a:off x="210312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4E9F2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9456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Vercel</a:t>
            </a:r>
            <a:endParaRPr lang="ko-KR" sz="1200" dirty="0"/>
          </a:p>
        </p:txBody>
      </p:sp>
      <p:sp>
        <p:nvSpPr>
          <p:cNvPr id="7" name="사용자→프론트"/>
          <p:cNvSpPr/>
          <p:nvPr/>
        </p:nvSpPr>
        <p:spPr>
          <a:xfrm>
            <a:off x="1737360" y="2514600"/>
            <a:ext cx="365760" cy="0"/>
          </a:xfrm>
          <a:prstGeom prst="line">
            <a:avLst/>
          </a:prstGeom>
          <a:noFill/>
          <a:ln w="15875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8" name="백엔드 영역"/>
          <p:cNvSpPr/>
          <p:nvPr/>
        </p:nvSpPr>
        <p:spPr>
          <a:xfrm>
            <a:off x="4023360" y="1097280"/>
            <a:ext cx="2788920" cy="3520440"/>
          </a:xfrm>
          <a:prstGeom prst="roundRect">
            <a:avLst>
              <a:gd name="adj" fmla="val 2623"/>
            </a:avLst>
          </a:prstGeom>
          <a:solidFill>
            <a:srgbClr val="F4F6FA"/>
          </a:solidFill>
          <a:ln w="12700">
            <a:solidFill>
              <a:srgbClr val="C9D1E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16052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FastAPI · Railway</a:t>
            </a:r>
            <a:endParaRPr lang="ko-KR" sz="1100" dirty="0"/>
          </a:p>
        </p:txBody>
      </p:sp>
      <p:sp>
        <p:nvSpPr>
          <p:cNvPr id="10" name="AI 레이어"/>
          <p:cNvSpPr/>
          <p:nvPr/>
        </p:nvSpPr>
        <p:spPr>
          <a:xfrm>
            <a:off x="4206240" y="1508760"/>
            <a:ext cx="242316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508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레이어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분해 Agent · RAG ①② · 이유 문장</a:t>
            </a:r>
            <a:endParaRPr lang="ko-KR" sz="1200" dirty="0"/>
          </a:p>
        </p:txBody>
      </p:sp>
      <p:sp>
        <p:nvSpPr>
          <p:cNvPr id="12" name="결정론 레이어"/>
          <p:cNvSpPr/>
          <p:nvPr/>
        </p:nvSpPr>
        <p:spPr>
          <a:xfrm>
            <a:off x="4206240" y="2697480"/>
            <a:ext cx="24231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6974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 레이어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판정 · 배치 · 검증 · 재조정</a:t>
            </a:r>
            <a:endParaRPr lang="ko-KR" sz="1200" dirty="0"/>
          </a:p>
        </p:txBody>
      </p:sp>
      <p:sp>
        <p:nvSpPr>
          <p:cNvPr id="14" name="알림 워커"/>
          <p:cNvSpPr/>
          <p:nvPr/>
        </p:nvSpPr>
        <p:spPr>
          <a:xfrm>
            <a:off x="4206240" y="3794760"/>
            <a:ext cx="2423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워커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1분마다 생존 신호</a:t>
            </a:r>
            <a:endParaRPr lang="ko-KR" sz="1200" dirty="0"/>
          </a:p>
        </p:txBody>
      </p:sp>
      <p:sp>
        <p:nvSpPr>
          <p:cNvPr id="16" name="AI→결정론"/>
          <p:cNvSpPr/>
          <p:nvPr/>
        </p:nvSpPr>
        <p:spPr>
          <a:xfrm>
            <a:off x="5413248" y="2377440"/>
            <a:ext cx="0" cy="320040"/>
          </a:xfrm>
          <a:prstGeom prst="line">
            <a:avLst/>
          </a:prstGeom>
          <a:noFill/>
          <a:ln w="15875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486400" y="23957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8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템플릿 · 키워드로 대체</a:t>
            </a:r>
            <a:endParaRPr lang="ko-KR" sz="800" dirty="0"/>
          </a:p>
        </p:txBody>
      </p:sp>
      <p:sp>
        <p:nvSpPr>
          <p:cNvPr id="18" name="프론트→백엔드"/>
          <p:cNvSpPr/>
          <p:nvPr/>
        </p:nvSpPr>
        <p:spPr>
          <a:xfrm>
            <a:off x="3657600" y="2514600"/>
            <a:ext cx="548640" cy="0"/>
          </a:xfrm>
          <a:prstGeom prst="line">
            <a:avLst/>
          </a:prstGeom>
          <a:noFill/>
          <a:ln w="15875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19" name="Claude"/>
          <p:cNvSpPr/>
          <p:nvPr/>
        </p:nvSpPr>
        <p:spPr>
          <a:xfrm>
            <a:off x="7223760" y="11430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143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 4 · Haiku 4</a:t>
            </a:r>
            <a:endParaRPr lang="ko-KR" sz="1200" dirty="0"/>
          </a:p>
        </p:txBody>
      </p:sp>
      <p:sp>
        <p:nvSpPr>
          <p:cNvPr id="21" name="Supabase"/>
          <p:cNvSpPr/>
          <p:nvPr/>
        </p:nvSpPr>
        <p:spPr>
          <a:xfrm>
            <a:off x="7223760" y="21945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2194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Auth · RLS</a:t>
            </a:r>
            <a:endParaRPr lang="ko-KR" sz="1200" dirty="0"/>
          </a:p>
        </p:txBody>
      </p:sp>
      <p:sp>
        <p:nvSpPr>
          <p:cNvPr id="23" name="GitHub Actions"/>
          <p:cNvSpPr/>
          <p:nvPr/>
        </p:nvSpPr>
        <p:spPr>
          <a:xfrm>
            <a:off x="7223760" y="324612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32461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· 외부 점검</a:t>
            </a:r>
            <a:endParaRPr lang="ko-KR" sz="1200" dirty="0"/>
          </a:p>
        </p:txBody>
      </p:sp>
      <p:sp>
        <p:nvSpPr>
          <p:cNvPr id="25" name="외부 데이터"/>
          <p:cNvSpPr/>
          <p:nvPr/>
        </p:nvSpPr>
        <p:spPr>
          <a:xfrm>
            <a:off x="7223760" y="3977640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C9D1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39776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</a:t>
            </a:r>
            <a:endParaRPr lang="ko-KR" sz="1200" dirty="0"/>
          </a:p>
          <a:p>
            <a:pPr eaLnBrk="0" algn="ctr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위비티 · 구글 캘린더</a:t>
            </a:r>
            <a:endParaRPr lang="ko-KR" sz="1200" dirty="0"/>
          </a:p>
        </p:txBody>
      </p:sp>
      <p:sp>
        <p:nvSpPr>
          <p:cNvPr id="27" name="AI→Claude"/>
          <p:cNvSpPr/>
          <p:nvPr/>
        </p:nvSpPr>
        <p:spPr>
          <a:xfrm flipV="1">
            <a:off x="6629400" y="1508760"/>
            <a:ext cx="594360" cy="411480"/>
          </a:xfrm>
          <a:prstGeom prst="line">
            <a:avLst/>
          </a:prstGeom>
          <a:noFill/>
          <a:ln w="15875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28" name="결정론→DB"/>
          <p:cNvSpPr/>
          <p:nvPr/>
        </p:nvSpPr>
        <p:spPr>
          <a:xfrm flipV="1">
            <a:off x="6629400" y="2560320"/>
            <a:ext cx="594360" cy="548640"/>
          </a:xfrm>
          <a:prstGeom prst="line">
            <a:avLst/>
          </a:prstGeom>
          <a:noFill/>
          <a:ln w="15875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29" name="Actions→API"/>
          <p:cNvSpPr/>
          <p:nvPr/>
        </p:nvSpPr>
        <p:spPr>
          <a:xfrm flipH="1" flipV="1">
            <a:off x="6812280" y="3291840"/>
            <a:ext cx="411480" cy="256032"/>
          </a:xfrm>
          <a:prstGeom prst="line">
            <a:avLst/>
          </a:prstGeom>
          <a:noFill/>
          <a:ln w="15875">
            <a:solidFill>
              <a:srgbClr val="8A94A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5720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자세한 흐름 · 데이터 모델 · 보안: docs/architecture.md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13</a:t>
            </a:fld>
            <a:endParaRPr 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과정 — 실측으로 막힌 곳을 찾고, 숫자로 고쳤다</a:t>
            </a:r>
            <a:endParaRPr lang="ko-KR" sz="2000" dirty="0"/>
          </a:p>
        </p:txBody>
      </p:sp>
      <p:sp>
        <p:nvSpPr>
          <p:cNvPr id="3" name="해결 과정 1"/>
          <p:cNvSpPr/>
          <p:nvPr/>
        </p:nvSpPr>
        <p:spPr>
          <a:xfrm>
            <a:off x="457200" y="111556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학습 분해가 139초 · 거의 항상 템플릿 원"/>
          <p:cNvSpPr/>
          <p:nvPr/>
        </p:nvSpPr>
        <p:spPr>
          <a:xfrm>
            <a:off x="621792" y="12618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학습 분해가 139초 · 거의 항상 템플릿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07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분해가 139초 · 거의 항상 템플릿</a:t>
            </a:r>
            <a:endParaRPr lang="ko-KR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794760" y="12070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</a:t>
            </a:r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호출당 20초 제한 + SDK 자동 재시도 3번</a:t>
            </a:r>
            <a:endParaRPr lang="ko-KR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2070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</a:t>
            </a:r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재시도 끔 · 에이전트 전체 60초 · 단원 25개로 묶기 → 28~35초</a:t>
            </a:r>
            <a:endParaRPr lang="ko-KR" sz="1000" dirty="0"/>
          </a:p>
        </p:txBody>
      </p:sp>
      <p:sp>
        <p:nvSpPr>
          <p:cNvPr id="9" name="해결 과정 2"/>
          <p:cNvSpPr/>
          <p:nvPr/>
        </p:nvSpPr>
        <p:spPr>
          <a:xfrm>
            <a:off x="457200" y="198424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게이트웨이에 임베딩 API 가 없다 원"/>
          <p:cNvSpPr/>
          <p:nvPr/>
        </p:nvSpPr>
        <p:spPr>
          <a:xfrm>
            <a:off x="621792" y="213055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게이트웨이에 임베딩 API 가 없다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20756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게이트웨이에 임베딩 API 가 없다</a:t>
            </a:r>
            <a:endParaRPr lang="ko-KR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794760" y="20756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</a:t>
            </a:r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설계가 임베딩 전제</a:t>
            </a:r>
            <a:endParaRPr lang="ko-KR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20756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</a:t>
            </a:r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Haiku 관련성 판단으로 전환 → 정답셋 적합도 40% → 100%</a:t>
            </a:r>
            <a:endParaRPr lang="ko-KR" sz="1000" dirty="0"/>
          </a:p>
        </p:txBody>
      </p:sp>
      <p:sp>
        <p:nvSpPr>
          <p:cNvPr id="15" name="해결 과정 3"/>
          <p:cNvSpPr/>
          <p:nvPr/>
        </p:nvSpPr>
        <p:spPr>
          <a:xfrm>
            <a:off x="457200" y="285292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재조정하면 선후 순서가 뒤집힘 원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재조정하면 선후 순서가 뒤집힘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29443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재조정하면 선후 순서가 뒤집힘</a:t>
            </a:r>
            <a:endParaRPr lang="ko-KR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794760" y="29443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</a:t>
            </a:r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블록만 옮기고 기대는 뒤 블록은 그대로</a:t>
            </a:r>
            <a:endParaRPr lang="ko-KR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294436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</a:t>
            </a:r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기대는 블록도 함께 다시 놓고, 새 위반이 생기면 적용하지 않음</a:t>
            </a:r>
            <a:endParaRPr lang="ko-KR" sz="1000" dirty="0"/>
          </a:p>
        </p:txBody>
      </p:sp>
      <p:sp>
        <p:nvSpPr>
          <p:cNvPr id="21" name="해결 과정 4"/>
          <p:cNvSpPr/>
          <p:nvPr/>
        </p:nvSpPr>
        <p:spPr>
          <a:xfrm>
            <a:off x="457200" y="3721608"/>
            <a:ext cx="822960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/health 200 인데 모든 요청 503 원"/>
          <p:cNvSpPr/>
          <p:nvPr/>
        </p:nvSpPr>
        <p:spPr>
          <a:xfrm>
            <a:off x="621792" y="38679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/health 200 인데 모든 요청 503 아이콘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813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2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/health 200 인데 모든 요청 503</a:t>
            </a:r>
            <a:endParaRPr lang="ko-KR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3794760" y="3813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</a:t>
            </a:r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서버에 DB 키 누락 — 살아 있음 ≠ 일할 수 있음</a:t>
            </a:r>
            <a:endParaRPr lang="ko-KR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035040" y="3813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</a:t>
            </a:r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/health/ready(DB 실제 읽기) · 정기 외부 점검 · 헬스체크 통과한 배포만 트래픽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14</a:t>
            </a:fld>
            <a:endParaRPr 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실사용자 테스트 — 5명이 5일 써 보고 평균 4.0~4.6점</a:t>
            </a:r>
            <a:endParaRPr lang="ko-KR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ko-KR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1887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컴퓨터공학과 학생 5명 — 정보처리기사 3명 · SQLD 2명</a:t>
            </a:r>
            <a:endParaRPr lang="ko-KR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470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</a:t>
            </a:r>
            <a:endParaRPr lang="ko-KR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4708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10-02 ~ 10-06 (5일) · 설문 10-06 ~ 10-12</a:t>
            </a:r>
            <a:endParaRPr lang="ko-KR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05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0545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폼 3분 · 11문항 (척도 + 서술), 참여 동의 필수</a:t>
            </a:r>
            <a:endParaRPr lang="ko-K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6382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ko-KR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6382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docs/user-test/리포트.md · 응답 원본 CSV</a:t>
            </a:r>
            <a:endParaRPr lang="ko-KR" sz="1100" dirty="0"/>
          </a:p>
        </p:txBody>
      </p:sp>
      <p:sp>
        <p:nvSpPr>
          <p:cNvPr id="11" name="추천 의향 카드"/>
          <p:cNvSpPr/>
          <p:nvPr/>
        </p:nvSpPr>
        <p:spPr>
          <a:xfrm>
            <a:off x="457200" y="3886200"/>
            <a:ext cx="32461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86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7.8 / 10  </a:t>
            </a:r>
            <a:pPr eaLnBrk="0" indent="0" marL="0">
              <a:buNone/>
            </a:pPr>
            <a:r>
              <a:rPr lang="ko-KR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친구에게 추천할 가능성 · NPS +20</a:t>
            </a:r>
            <a:endParaRPr lang="ko-KR" sz="2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931920" y="1051560"/>
          <a:ext cx="48463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15</a:t>
            </a:fld>
            <a:endParaRPr 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반영 — 받은 것, 고친 것, 안 고친 것과 그 이유</a:t>
            </a:r>
            <a:endParaRPr lang="ko-KR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325880" y="1051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ko-KR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ko-KR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89788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</a:t>
            </a:r>
            <a:endParaRPr lang="ko-KR" sz="1000" dirty="0"/>
          </a:p>
        </p:txBody>
      </p:sp>
      <p:sp>
        <p:nvSpPr>
          <p:cNvPr id="6" name="피드백 1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반영 표시"/>
          <p:cNvSpPr/>
          <p:nvPr/>
        </p:nvSpPr>
        <p:spPr>
          <a:xfrm>
            <a:off x="594360" y="1527048"/>
            <a:ext cx="59436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2704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ko-K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3990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"계획은 생겼는데 그 시간에 무엇을 어떻게 공부할지 모르겠다" (P1)</a:t>
            </a:r>
            <a:endParaRPr lang="ko-KR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139903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블록에 단원 이름만 있었다</a:t>
            </a:r>
            <a:endParaRPr lang="ko-KR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139903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화면에 「이 블록 공부 방법」 — AI 가 블록마다 3단계 할 일과 시간 배분. 같은 단원의 1/3 · 2/3 · 3/3 은 이어지게 (못 쓰면 규칙 안내)</a:t>
            </a:r>
            <a:endParaRPr lang="ko-KR" sz="1000" dirty="0"/>
          </a:p>
        </p:txBody>
      </p:sp>
      <p:sp>
        <p:nvSpPr>
          <p:cNvPr id="12" name="피드백 2"/>
          <p:cNvSpPr/>
          <p:nvPr/>
        </p:nvSpPr>
        <p:spPr>
          <a:xfrm>
            <a:off x="457200" y="214884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반영 표시"/>
          <p:cNvSpPr/>
          <p:nvPr/>
        </p:nvSpPr>
        <p:spPr>
          <a:xfrm>
            <a:off x="594360" y="2350008"/>
            <a:ext cx="59436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35000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</a:t>
            </a:r>
            <a:endParaRPr lang="ko-KR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22199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"메모가 따로 저장은 안 되는 것 같다" (P4)</a:t>
            </a:r>
            <a:endParaRPr lang="ko-KR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2219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'완료' 전에 화면을 옮기면 쓰던 메모가 사라졌다</a:t>
            </a:r>
            <a:endParaRPr lang="ko-KR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22199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중인 메모를 기기에 보관 · 저장 시점과 보는 곳 안내 · 저장 확인 문구</a:t>
            </a:r>
            <a:endParaRPr lang="ko-KR" sz="1000" dirty="0"/>
          </a:p>
        </p:txBody>
      </p:sp>
      <p:sp>
        <p:nvSpPr>
          <p:cNvPr id="18" name="피드백 3"/>
          <p:cNvSpPr/>
          <p:nvPr/>
        </p:nvSpPr>
        <p:spPr>
          <a:xfrm>
            <a:off x="457200" y="29718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보류 표시"/>
          <p:cNvSpPr/>
          <p:nvPr/>
        </p:nvSpPr>
        <p:spPr>
          <a:xfrm>
            <a:off x="594360" y="3172968"/>
            <a:ext cx="594360" cy="329184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7296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ko-KR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04495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재조정된 일정 신뢰 3점 2명 (서술 없음)</a:t>
            </a:r>
            <a:endParaRPr lang="ko-KR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304495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특정할 근거가 없다</a:t>
            </a:r>
            <a:endParaRPr lang="ko-KR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304495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모른 채 고치면 엉뚱한 곳을 바꾼다 → 다음 테스트에서 "무엇이 못 미더웠나"를 따로 묻는다</a:t>
            </a:r>
            <a:endParaRPr lang="ko-KR" sz="1000" dirty="0"/>
          </a:p>
        </p:txBody>
      </p:sp>
      <p:sp>
        <p:nvSpPr>
          <p:cNvPr id="24" name="피드백 4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결정 표시"/>
          <p:cNvSpPr/>
          <p:nvPr/>
        </p:nvSpPr>
        <p:spPr>
          <a:xfrm>
            <a:off x="594360" y="3995928"/>
            <a:ext cx="59436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995928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ko-KR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86791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"강" 그룹도 부담 1.33 · 도움 4.67</a:t>
            </a:r>
            <a:endParaRPr lang="ko-KR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38679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기획서의 미결정 항목 (기본 알림 강도)</a:t>
            </a:r>
            <a:endParaRPr lang="ko-KR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38679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"보통" 유지 — "약"으로 낮출 근거가 없다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16</a:t>
            </a:fld>
            <a:endParaRPr 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운영과 신뢰 — 계속 살아 있고, AI 와 개인정보를 숨기지 않는다</a:t>
            </a:r>
            <a:endParaRPr lang="ko-KR" sz="2000" dirty="0"/>
          </a:p>
        </p:txBody>
      </p:sp>
      <p:sp>
        <p:nvSpPr>
          <p:cNvPr id="3" name="가동률 · 외부 점검 카드"/>
          <p:cNvSpPr/>
          <p:nvPr/>
        </p:nvSpPr>
        <p:spPr>
          <a:xfrm>
            <a:off x="457200" y="1143000"/>
            <a:ext cx="402336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가동률 · 외부 점검 원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가동률 · 외부 점검 아이콘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4813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89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· 외부 점검</a:t>
            </a:r>
            <a:endParaRPr lang="ko-K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Actions 가 정기적으로 프론트 · DB 읽기 · 공고 API · 알림 워커를 점검 — 10-07~12 25회 모두 정상(가동률 100%), 서버 오류 0건. 실패하면 장애 이슈를 자동으로 연다</a:t>
            </a:r>
            <a:endParaRPr lang="ko-KR" sz="1100" dirty="0"/>
          </a:p>
        </p:txBody>
      </p:sp>
      <p:sp>
        <p:nvSpPr>
          <p:cNvPr id="8" name="오류 · 예외 로그 카드"/>
          <p:cNvSpPr/>
          <p:nvPr/>
        </p:nvSpPr>
        <p:spPr>
          <a:xfrm>
            <a:off x="4663440" y="1143000"/>
            <a:ext cx="402336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오류 · 예외 로그 원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오류 · 예외 로그 아이콘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81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3898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· 예외 로그</a:t>
            </a:r>
            <a:endParaRPr lang="ko-KR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5xx · 처리되지 않은 예외 · 워커 실패를 기록 (요청 번호, 이메일 · id 는 가림). 관리자 화면 '운영 상태'에서 요약</a:t>
            </a:r>
            <a:endParaRPr lang="ko-KR" sz="1100" dirty="0"/>
          </a:p>
        </p:txBody>
      </p:sp>
      <p:sp>
        <p:nvSpPr>
          <p:cNvPr id="13" name="배포 후 자동 복구 카드"/>
          <p:cNvSpPr/>
          <p:nvPr/>
        </p:nvSpPr>
        <p:spPr>
          <a:xfrm>
            <a:off x="457200" y="2880360"/>
            <a:ext cx="402336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배포 후 자동 복구 원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배포 후 자동 복구 아이콘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186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27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자동 복구</a:t>
            </a:r>
            <a:endParaRPr lang="ko-KR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6576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헬스체크를 통과한 배포만 트래픽 → 실패한 배포는 이전 버전 유지 · 죽으면 재시작 · 배포 확인 실패 시 이슈와 롤백 절차</a:t>
            </a:r>
            <a:endParaRPr lang="ko-KR" sz="1100" dirty="0"/>
          </a:p>
        </p:txBody>
      </p:sp>
      <p:sp>
        <p:nvSpPr>
          <p:cNvPr id="18" name="AI 윤리 · 개인정보 카드"/>
          <p:cNvSpPr/>
          <p:nvPr/>
        </p:nvSpPr>
        <p:spPr>
          <a:xfrm>
            <a:off x="4663440" y="2880360"/>
            <a:ext cx="402336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I 윤리 · 개인정보 원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AI 윤리 · 개인정보 아이콘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1868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27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윤리 · 개인정보</a:t>
            </a:r>
            <a:endParaRPr lang="ko-KR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6576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추천' 배지와 부정확 가능성 문구 상시 노출 · 가입 시 필수 동의 2개(개인정보 · AI 이용) · 캘린더는 바쁜 시간만 · 메모리 즉시 삭제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17</a:t>
            </a:fld>
            <a:endParaRPr 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0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— 기술 스택이 아니라 화면부터 API 까지, 기능 묶음으로 나눴다</a:t>
            </a:r>
            <a:endParaRPr lang="ko-KR" sz="2000" dirty="0"/>
          </a:p>
        </p:txBody>
      </p:sp>
      <p:sp>
        <p:nvSpPr>
          <p:cNvPr id="3" name="이미영 카드"/>
          <p:cNvSpPr/>
          <p:nvPr/>
        </p:nvSpPr>
        <p:spPr>
          <a:xfrm>
            <a:off x="457200" y="1143000"/>
            <a:ext cx="1554480" cy="2148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 원"/>
          <p:cNvSpPr/>
          <p:nvPr/>
        </p:nvSpPr>
        <p:spPr>
          <a:xfrm>
            <a:off x="960120" y="1298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ko-KR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이미영</a:t>
            </a:r>
            <a:endParaRPr lang="ko-KR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94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진도 · 적응형 UI</a:t>
            </a:r>
            <a:endParaRPr lang="ko-KR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품질 평가</a:t>
            </a:r>
            <a:endParaRPr lang="ko-KR" sz="1000" dirty="0"/>
          </a:p>
        </p:txBody>
      </p:sp>
      <p:sp>
        <p:nvSpPr>
          <p:cNvPr id="9" name="민미경 카드"/>
          <p:cNvSpPr/>
          <p:nvPr/>
        </p:nvSpPr>
        <p:spPr>
          <a:xfrm>
            <a:off x="2139696" y="1143000"/>
            <a:ext cx="1554480" cy="2148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 원"/>
          <p:cNvSpPr/>
          <p:nvPr/>
        </p:nvSpPr>
        <p:spPr>
          <a:xfrm>
            <a:off x="2642616" y="1298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42616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ko-KR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민미경</a:t>
            </a:r>
            <a:endParaRPr lang="ko-KR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2494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탐색 온보딩</a:t>
            </a:r>
            <a:endParaRPr lang="ko-KR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① 목표</a:t>
            </a:r>
            <a:endParaRPr lang="ko-KR" sz="1000" dirty="0"/>
          </a:p>
        </p:txBody>
      </p:sp>
      <p:sp>
        <p:nvSpPr>
          <p:cNvPr id="15" name="김재민 카드"/>
          <p:cNvSpPr/>
          <p:nvPr/>
        </p:nvSpPr>
        <p:spPr>
          <a:xfrm>
            <a:off x="3822192" y="1143000"/>
            <a:ext cx="1554480" cy="2148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 원"/>
          <p:cNvSpPr/>
          <p:nvPr/>
        </p:nvSpPr>
        <p:spPr>
          <a:xfrm>
            <a:off x="4325112" y="12984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2511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8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ko-KR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김재민</a:t>
            </a:r>
            <a:endParaRPr lang="ko-KR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22494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학습 · 리드</a:t>
            </a:r>
            <a:endParaRPr lang="ko-KR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913632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학습 분해</a:t>
            </a:r>
            <a:endParaRPr lang="ko-KR" sz="1000" dirty="0"/>
          </a:p>
        </p:txBody>
      </p:sp>
      <p:sp>
        <p:nvSpPr>
          <p:cNvPr id="21" name="손애희 카드"/>
          <p:cNvSpPr/>
          <p:nvPr/>
        </p:nvSpPr>
        <p:spPr>
          <a:xfrm>
            <a:off x="5504688" y="1143000"/>
            <a:ext cx="1554480" cy="2148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 원"/>
          <p:cNvSpPr/>
          <p:nvPr/>
        </p:nvSpPr>
        <p:spPr>
          <a:xfrm>
            <a:off x="6007608" y="1298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0760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ko-KR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596128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손애희</a:t>
            </a:r>
            <a:endParaRPr lang="ko-KR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96128" y="22494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공모전 · 학습 메모리</a:t>
            </a:r>
            <a:endParaRPr lang="ko-KR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596128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② + Memory</a:t>
            </a:r>
            <a:endParaRPr lang="ko-KR" sz="1000" dirty="0"/>
          </a:p>
        </p:txBody>
      </p:sp>
      <p:sp>
        <p:nvSpPr>
          <p:cNvPr id="27" name="이 민 카드"/>
          <p:cNvSpPr/>
          <p:nvPr/>
        </p:nvSpPr>
        <p:spPr>
          <a:xfrm>
            <a:off x="7187184" y="1143000"/>
            <a:ext cx="1554480" cy="214884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E 원"/>
          <p:cNvSpPr/>
          <p:nvPr/>
        </p:nvSpPr>
        <p:spPr>
          <a:xfrm>
            <a:off x="7690104" y="1298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0104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ko-KR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민</a:t>
            </a:r>
            <a:endParaRPr lang="ko-KR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78624" y="22494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알림 · 관리자 · 배포</a:t>
            </a:r>
            <a:endParaRPr lang="ko-KR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278624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sz="1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워크플로우</a:t>
            </a:r>
            <a:endParaRPr lang="ko-KR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3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비전공자 팀의 AI 협업 규칙</a:t>
            </a:r>
            <a:endParaRPr lang="ko-KR" sz="1300" dirty="0"/>
          </a:p>
        </p:txBody>
      </p:sp>
      <p:sp>
        <p:nvSpPr>
          <p:cNvPr id="34" name="규칙 1"/>
          <p:cNvSpPr/>
          <p:nvPr/>
        </p:nvSpPr>
        <p:spPr>
          <a:xfrm>
            <a:off x="457200" y="3886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수 없는 코드는 병합하지 않는다</a:t>
            </a:r>
            <a:endParaRPr lang="ko-KR" sz="1000" dirty="0"/>
          </a:p>
        </p:txBody>
      </p:sp>
      <p:sp>
        <p:nvSpPr>
          <p:cNvPr id="36" name="규칙 2"/>
          <p:cNvSpPr/>
          <p:nvPr/>
        </p:nvSpPr>
        <p:spPr>
          <a:xfrm>
            <a:off x="2560320" y="3886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670048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 보지 않은 코드는 커밋하지 않는다</a:t>
            </a:r>
            <a:endParaRPr lang="ko-KR" sz="1000" dirty="0"/>
          </a:p>
        </p:txBody>
      </p:sp>
      <p:sp>
        <p:nvSpPr>
          <p:cNvPr id="38" name="규칙 3"/>
          <p:cNvSpPr/>
          <p:nvPr/>
        </p:nvSpPr>
        <p:spPr>
          <a:xfrm>
            <a:off x="4663440" y="3886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73168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막히면 팀 채널에 올린다</a:t>
            </a:r>
            <a:endParaRPr lang="ko-KR" sz="1000" dirty="0"/>
          </a:p>
        </p:txBody>
      </p:sp>
      <p:sp>
        <p:nvSpPr>
          <p:cNvPr id="40" name="규칙 4"/>
          <p:cNvSpPr/>
          <p:nvPr/>
        </p:nvSpPr>
        <p:spPr>
          <a:xfrm>
            <a:off x="6766560" y="38862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5DB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76288" y="3886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sz="10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· API 키는 프롬프트에 붙여 넣지 않는다</a:t>
            </a:r>
            <a:endParaRPr lang="ko-K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18</a:t>
            </a:fld>
            <a:endParaRPr 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목표만 가져와도 계획을 만들고, 밀리면 대신 다시 짠다</a:t>
            </a:r>
            <a:endParaRPr lang="ko-KR" sz="2200" dirty="0"/>
          </a:p>
        </p:txBody>
      </p:sp>
      <p:sp>
        <p:nvSpPr>
          <p:cNvPr id="3" name="만든 것 카드"/>
          <p:cNvSpPr/>
          <p:nvPr/>
        </p:nvSpPr>
        <p:spPr>
          <a:xfrm>
            <a:off x="457200" y="12801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F2A42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rgbClr val="9FB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것</a:t>
            </a:r>
            <a:endParaRPr lang="ko-KR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학습 분해 + 결정론 배치 · 검증 — 규칙 위반 0건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두 갈래 — 근거 없으면 답하지 않는 추천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밤 재조정 · 알림 · 정기 외부 점검까지 자동</a:t>
            </a:r>
            <a:endParaRPr lang="ko-KR" sz="1200" dirty="0"/>
          </a:p>
        </p:txBody>
      </p:sp>
      <p:sp>
        <p:nvSpPr>
          <p:cNvPr id="6" name="배운 것 카드"/>
          <p:cNvSpPr/>
          <p:nvPr/>
        </p:nvSpPr>
        <p:spPr>
          <a:xfrm>
            <a:off x="3246120" y="12801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F2A42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rgbClr val="9FB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ko-KR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은 실패한다 — 실패해도 결과가 나오게 먼저 설계한다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전에 정한 제한은 가설일 뿐 (139초 → 28~35초)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"살아 있음"과 "일할 수 있음"은 다르다</a:t>
            </a:r>
            <a:endParaRPr lang="ko-KR" sz="1200" dirty="0"/>
          </a:p>
        </p:txBody>
      </p:sp>
      <p:sp>
        <p:nvSpPr>
          <p:cNvPr id="9" name="다음 단계 카드"/>
          <p:cNvSpPr/>
          <p:nvPr/>
        </p:nvSpPr>
        <p:spPr>
          <a:xfrm>
            <a:off x="6035040" y="128016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F2A42"/>
          </a:solidFill>
          <a:ln w="12700">
            <a:solidFill>
              <a:srgbClr val="2C3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500" b="1" dirty="0">
                <a:solidFill>
                  <a:srgbClr val="F0C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ko-KR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874520"/>
            <a:ext cx="2194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재조정 신뢰가 낮은 이유를 인터뷰로 확인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· 목표 카탈로그 확대</a:t>
            </a:r>
            <a:endParaRPr lang="ko-KR" sz="1200" dirty="0"/>
          </a:p>
          <a:p>
            <a:pPr eaLnBrk="0" marL="152400" indent="-152400">
              <a:spcAft>
                <a:spcPts val="800"/>
              </a:spcAft>
              <a:buSzPct val="100000"/>
              <a:buChar char="•"/>
            </a:pPr>
            <a:r>
              <a:rPr lang="ko-KR" sz="1200" dirty="0">
                <a:solidFill>
                  <a:srgbClr val="E6EB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후보가 수천 건이 되면 임베딩 검색 도입 검토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sz="110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 https://codyssey-final-project.vercel.app</a:t>
            </a:r>
            <a:endParaRPr lang="ko-KR" sz="1100" dirty="0"/>
          </a:p>
          <a:p>
            <a:pPr eaLnBrk="0" indent="0" marL="0">
              <a:buNone/>
            </a:pPr>
            <a:r>
              <a:rPr lang="ko-KR" sz="110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 https://github.com/dinf7605/Codyssey_FinalProject  (기획서 · 명세서 · 피드백 기록은 docs/)</a:t>
            </a:r>
            <a:endParaRPr lang="ko-K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29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eaLnBrk="0" algn="r"/>
            <a:fld id="{F7021451-1387-4CA6-816F-3879F97B5CBC}" type="slidenum">
              <a:rPr b="0" lang="ko-KR"/>
              <a:t>19</a:t>
            </a:fld>
            <a:endParaRPr 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Pace">
  <a:themeElements>
    <a:clrScheme name="StudyPace">
      <a:dk1>
        <a:srgbClr val="141C2E"/>
      </a:dk1>
      <a:lt1>
        <a:srgbClr val="FFFFFF"/>
      </a:lt1>
      <a:dk2>
        <a:srgbClr val="2E4470"/>
      </a:dk2>
      <a:lt2>
        <a:srgbClr val="EEF1F7"/>
      </a:lt2>
      <a:accent1>
        <a:srgbClr val="2E4470"/>
      </a:accent1>
      <a:accent2>
        <a:srgbClr val="E3A934"/>
      </a:accent2>
      <a:accent3>
        <a:srgbClr val="3D6B52"/>
      </a:accent3>
      <a:accent4>
        <a:srgbClr val="9A4A33"/>
      </a:accent4>
      <a:accent5>
        <a:srgbClr val="7FA3DD"/>
      </a:accent5>
      <a:accent6>
        <a:srgbClr val="5B6478"/>
      </a:accent6>
      <a:hlink>
        <a:srgbClr val="2E4470"/>
      </a:hlink>
      <a:folHlink>
        <a:srgbClr val="5B6478"/>
      </a:folHlink>
    </a:clrScheme>
    <a:fontScheme name="StudyPa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StudyPace 발표 자료</dc:title>
  <dc:subject>Codyssey 최종 프로젝트 — 학습 목표 기반 맞춤 일정 플래너</dc:subject>
  <dc:creator>StudyPace 팀</dc:creator>
  <cp:lastModifiedBy>StudyPace 팀</cp:lastModifiedBy>
  <cp:revision>1</cp:revision>
  <dcterms:created xsi:type="dcterms:W3CDTF">2026-10-12T08:38:26Z</dcterms:created>
  <dcterms:modified xsi:type="dcterms:W3CDTF">2026-10-12T08:38:26Z</dcterms:modified>
</cp:coreProperties>
</file>